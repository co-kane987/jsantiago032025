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Lst>
  <p:notesMasterIdLst>
    <p:notesMasterId r:id="rId3"/>
  </p:notesMasterIdLst>
  <p:sldSz cx="14630400" cy="8229600"/>
  <p:notesSz cx="8229600" cy="14630400"/>
  <p:embeddedFontLst>
    <p:embeddedFont>
      <p:font typeface="Mona Sans Semi Bold"/>
      <p:regular r:id="rId8"/>
    </p:embeddedFont>
    <p:embeddedFont>
      <p:font typeface="Mona Sans Semi Bold"/>
      <p:regular r:id="rId9"/>
    </p:embeddedFont>
    <p:embeddedFont>
      <p:font typeface="Mona Sans Semi Bold"/>
      <p:regular r:id="rId10"/>
    </p:embeddedFont>
    <p:embeddedFont>
      <p:font typeface="Mona Sans Semi Bold"/>
      <p:regular r:id="rId11"/>
    </p:embeddedFont>
    <p:embeddedFont>
      <p:font typeface="Funnel Sans"/>
      <p:regular r:id="rId12"/>
    </p:embeddedFont>
    <p:embeddedFont>
      <p:font typeface="Funnel Sans"/>
      <p:regular r:id="rId1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72095" y="582454"/>
            <a:ext cx="5133856" cy="417314"/>
          </a:xfrm>
          <a:prstGeom prst="rect">
            <a:avLst/>
          </a:prstGeom>
          <a:noFill/>
          <a:ln/>
        </p:spPr>
        <p:txBody>
          <a:bodyPr wrap="none" lIns="0" tIns="0" rIns="0" bIns="0" rtlCol="0" anchor="t"/>
          <a:lstStyle/>
          <a:p>
            <a:pPr algn="l" indent="0" marL="0">
              <a:lnSpc>
                <a:spcPts val="3250"/>
              </a:lnSpc>
              <a:buNone/>
            </a:pPr>
            <a:r>
              <a:rPr lang="en-US" sz="2600" dirty="0">
                <a:solidFill>
                  <a:srgbClr val="DDDDDD"/>
                </a:solidFill>
                <a:latin typeface="Mona Sans Semi Bold" pitchFamily="34" charset="0"/>
                <a:ea typeface="Mona Sans Semi Bold" pitchFamily="34" charset="-122"/>
                <a:cs typeface="Mona Sans Semi Bold" pitchFamily="34" charset="-120"/>
              </a:rPr>
              <a:t>French imperialism in vietnam!!!</a:t>
            </a:r>
            <a:endParaRPr lang="en-US" sz="2600" dirty="0"/>
          </a:p>
        </p:txBody>
      </p:sp>
      <p:pic>
        <p:nvPicPr>
          <p:cNvPr id="3" name="Image 0" descr="preencoded.png">    </p:cNvPr>
          <p:cNvPicPr>
            <a:picLocks noChangeAspect="1"/>
          </p:cNvPicPr>
          <p:nvPr/>
        </p:nvPicPr>
        <p:blipFill>
          <a:blip r:embed="rId1"/>
          <a:stretch>
            <a:fillRect/>
          </a:stretch>
        </p:blipFill>
        <p:spPr>
          <a:xfrm>
            <a:off x="13130927" y="1266825"/>
            <a:ext cx="927378" cy="760333"/>
          </a:xfrm>
          <a:prstGeom prst="rect">
            <a:avLst/>
          </a:prstGeom>
        </p:spPr>
      </p:pic>
      <p:sp>
        <p:nvSpPr>
          <p:cNvPr id="4" name="Text 1"/>
          <p:cNvSpPr/>
          <p:nvPr/>
        </p:nvSpPr>
        <p:spPr>
          <a:xfrm>
            <a:off x="572095" y="2177296"/>
            <a:ext cx="133469" cy="166926"/>
          </a:xfrm>
          <a:prstGeom prst="rect">
            <a:avLst/>
          </a:prstGeom>
          <a:noFill/>
          <a:ln/>
        </p:spPr>
        <p:txBody>
          <a:bodyPr wrap="none" lIns="0" tIns="0" rIns="0" bIns="0" rtlCol="0" anchor="t"/>
          <a:lstStyle/>
          <a:p>
            <a:pPr algn="l" indent="0" marL="0">
              <a:lnSpc>
                <a:spcPts val="1650"/>
              </a:lnSpc>
              <a:buNone/>
            </a:pPr>
            <a:r>
              <a:rPr lang="en-US" sz="1050" dirty="0">
                <a:solidFill>
                  <a:srgbClr val="8F8F8F"/>
                </a:solidFill>
                <a:latin typeface="Mona Sans Light" pitchFamily="34" charset="0"/>
                <a:ea typeface="Mona Sans Light" pitchFamily="34" charset="-122"/>
                <a:cs typeface="Mona Sans Light" pitchFamily="34" charset="-120"/>
              </a:rPr>
              <a:t>01</a:t>
            </a:r>
            <a:endParaRPr lang="en-US" sz="1050" dirty="0"/>
          </a:p>
        </p:txBody>
      </p:sp>
      <p:sp>
        <p:nvSpPr>
          <p:cNvPr id="5" name="Shape 2"/>
          <p:cNvSpPr/>
          <p:nvPr/>
        </p:nvSpPr>
        <p:spPr>
          <a:xfrm>
            <a:off x="572095" y="2388989"/>
            <a:ext cx="4406384" cy="15240"/>
          </a:xfrm>
          <a:prstGeom prst="rect">
            <a:avLst/>
          </a:prstGeom>
          <a:solidFill>
            <a:srgbClr val="FFFFFF"/>
          </a:solidFill>
          <a:ln/>
        </p:spPr>
      </p:sp>
      <p:sp>
        <p:nvSpPr>
          <p:cNvPr id="6" name="Text 3"/>
          <p:cNvSpPr/>
          <p:nvPr/>
        </p:nvSpPr>
        <p:spPr>
          <a:xfrm>
            <a:off x="572095" y="2486144"/>
            <a:ext cx="1938337" cy="208598"/>
          </a:xfrm>
          <a:prstGeom prst="rect">
            <a:avLst/>
          </a:prstGeom>
          <a:noFill/>
          <a:ln/>
        </p:spPr>
        <p:txBody>
          <a:bodyPr wrap="none" lIns="0" tIns="0" rIns="0" bIns="0" rtlCol="0" anchor="t"/>
          <a:lstStyle/>
          <a:p>
            <a:pPr algn="l" indent="0" marL="0">
              <a:lnSpc>
                <a:spcPts val="1600"/>
              </a:lnSpc>
              <a:buNone/>
            </a:pPr>
            <a:r>
              <a:rPr lang="en-US" sz="1300" dirty="0">
                <a:solidFill>
                  <a:srgbClr val="8F8F8F"/>
                </a:solidFill>
                <a:latin typeface="Mona Sans Semi Bold" pitchFamily="34" charset="0"/>
                <a:ea typeface="Mona Sans Semi Bold" pitchFamily="34" charset="-122"/>
                <a:cs typeface="Mona Sans Semi Bold" pitchFamily="34" charset="-120"/>
              </a:rPr>
              <a:t>Colonial Parent Country</a:t>
            </a:r>
            <a:endParaRPr lang="en-US" sz="1300" dirty="0"/>
          </a:p>
        </p:txBody>
      </p:sp>
      <p:sp>
        <p:nvSpPr>
          <p:cNvPr id="7" name="Text 4"/>
          <p:cNvSpPr/>
          <p:nvPr/>
        </p:nvSpPr>
        <p:spPr>
          <a:xfrm>
            <a:off x="572095" y="2774871"/>
            <a:ext cx="4406384" cy="641152"/>
          </a:xfrm>
          <a:prstGeom prst="rect">
            <a:avLst/>
          </a:prstGeom>
          <a:noFill/>
          <a:ln/>
        </p:spPr>
        <p:txBody>
          <a:bodyPr wrap="square" lIns="0" tIns="0" rIns="0" bIns="0" rtlCol="0" anchor="t"/>
          <a:lstStyle/>
          <a:p>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France took control starting in 1858…i think, capturing Saigon in 1859 and forming French Indochina by 1887. They sought rice, rubber, and more power in Southeast Asia and in the process veitnam got caught up.</a:t>
            </a:r>
            <a:endParaRPr lang="en-US" sz="1050" dirty="0"/>
          </a:p>
        </p:txBody>
      </p:sp>
      <p:sp>
        <p:nvSpPr>
          <p:cNvPr id="8" name="Text 5"/>
          <p:cNvSpPr/>
          <p:nvPr/>
        </p:nvSpPr>
        <p:spPr>
          <a:xfrm>
            <a:off x="5111948" y="2177296"/>
            <a:ext cx="133469" cy="166926"/>
          </a:xfrm>
          <a:prstGeom prst="rect">
            <a:avLst/>
          </a:prstGeom>
          <a:noFill/>
          <a:ln/>
        </p:spPr>
        <p:txBody>
          <a:bodyPr wrap="none" lIns="0" tIns="0" rIns="0" bIns="0" rtlCol="0" anchor="t"/>
          <a:lstStyle/>
          <a:p>
            <a:pPr algn="l" indent="0" marL="0">
              <a:lnSpc>
                <a:spcPts val="1650"/>
              </a:lnSpc>
              <a:buNone/>
            </a:pPr>
            <a:r>
              <a:rPr lang="en-US" sz="1050" dirty="0">
                <a:solidFill>
                  <a:srgbClr val="8F8F8F"/>
                </a:solidFill>
                <a:latin typeface="Mona Sans Light" pitchFamily="34" charset="0"/>
                <a:ea typeface="Mona Sans Light" pitchFamily="34" charset="-122"/>
                <a:cs typeface="Mona Sans Light" pitchFamily="34" charset="-120"/>
              </a:rPr>
              <a:t>02</a:t>
            </a:r>
            <a:endParaRPr lang="en-US" sz="1050" dirty="0"/>
          </a:p>
        </p:txBody>
      </p:sp>
      <p:sp>
        <p:nvSpPr>
          <p:cNvPr id="9" name="Shape 6"/>
          <p:cNvSpPr/>
          <p:nvPr/>
        </p:nvSpPr>
        <p:spPr>
          <a:xfrm>
            <a:off x="5111948" y="2388989"/>
            <a:ext cx="4406384" cy="15240"/>
          </a:xfrm>
          <a:prstGeom prst="rect">
            <a:avLst/>
          </a:prstGeom>
          <a:solidFill>
            <a:srgbClr val="FFFFFF"/>
          </a:solidFill>
          <a:ln/>
        </p:spPr>
      </p:sp>
      <p:sp>
        <p:nvSpPr>
          <p:cNvPr id="10" name="Text 7"/>
          <p:cNvSpPr/>
          <p:nvPr/>
        </p:nvSpPr>
        <p:spPr>
          <a:xfrm>
            <a:off x="5111948" y="2486144"/>
            <a:ext cx="1814870" cy="208598"/>
          </a:xfrm>
          <a:prstGeom prst="rect">
            <a:avLst/>
          </a:prstGeom>
          <a:noFill/>
          <a:ln/>
        </p:spPr>
        <p:txBody>
          <a:bodyPr wrap="none" lIns="0" tIns="0" rIns="0" bIns="0" rtlCol="0" anchor="t"/>
          <a:lstStyle/>
          <a:p>
            <a:pPr algn="l" indent="0" marL="0">
              <a:lnSpc>
                <a:spcPts val="1600"/>
              </a:lnSpc>
              <a:buNone/>
            </a:pPr>
            <a:r>
              <a:rPr lang="en-US" sz="1300" dirty="0">
                <a:solidFill>
                  <a:srgbClr val="8F8F8F"/>
                </a:solidFill>
                <a:latin typeface="Mona Sans Semi Bold" pitchFamily="34" charset="0"/>
                <a:ea typeface="Mona Sans Semi Bold" pitchFamily="34" charset="-122"/>
                <a:cs typeface="Mona Sans Semi Bold" pitchFamily="34" charset="-120"/>
              </a:rPr>
              <a:t>Road to Independence</a:t>
            </a:r>
            <a:endParaRPr lang="en-US" sz="1300" dirty="0"/>
          </a:p>
        </p:txBody>
      </p:sp>
      <p:sp>
        <p:nvSpPr>
          <p:cNvPr id="11" name="Text 8"/>
          <p:cNvSpPr/>
          <p:nvPr/>
        </p:nvSpPr>
        <p:spPr>
          <a:xfrm>
            <a:off x="5111948" y="2774871"/>
            <a:ext cx="4406384" cy="854869"/>
          </a:xfrm>
          <a:prstGeom prst="rect">
            <a:avLst/>
          </a:prstGeom>
          <a:noFill/>
          <a:ln/>
        </p:spPr>
        <p:txBody>
          <a:bodyPr wrap="square" lIns="0" tIns="0" rIns="0" bIns="0" rtlCol="0" anchor="t"/>
          <a:lstStyle/>
          <a:p>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ho chi minh and the Vietnamese poeple declared independence in 1945. After the Indochina War and W at Dien Bien Phu in 1954, the Geneva Accords ended French colonial rule.(alot of the information in this card is from google)</a:t>
            </a:r>
            <a:endParaRPr lang="en-US" sz="1050" dirty="0"/>
          </a:p>
        </p:txBody>
      </p:sp>
      <p:sp>
        <p:nvSpPr>
          <p:cNvPr id="12" name="Text 9"/>
          <p:cNvSpPr/>
          <p:nvPr/>
        </p:nvSpPr>
        <p:spPr>
          <a:xfrm>
            <a:off x="9651802" y="2177296"/>
            <a:ext cx="133469" cy="166926"/>
          </a:xfrm>
          <a:prstGeom prst="rect">
            <a:avLst/>
          </a:prstGeom>
          <a:noFill/>
          <a:ln/>
        </p:spPr>
        <p:txBody>
          <a:bodyPr wrap="none" lIns="0" tIns="0" rIns="0" bIns="0" rtlCol="0" anchor="t"/>
          <a:lstStyle/>
          <a:p>
            <a:pPr algn="l" indent="0" marL="0">
              <a:lnSpc>
                <a:spcPts val="1650"/>
              </a:lnSpc>
              <a:buNone/>
            </a:pPr>
            <a:r>
              <a:rPr lang="en-US" sz="1050" dirty="0">
                <a:solidFill>
                  <a:srgbClr val="8F8F8F"/>
                </a:solidFill>
                <a:latin typeface="Mona Sans Light" pitchFamily="34" charset="0"/>
                <a:ea typeface="Mona Sans Light" pitchFamily="34" charset="-122"/>
                <a:cs typeface="Mona Sans Light" pitchFamily="34" charset="-120"/>
              </a:rPr>
              <a:t>03</a:t>
            </a:r>
            <a:endParaRPr lang="en-US" sz="1050" dirty="0"/>
          </a:p>
        </p:txBody>
      </p:sp>
      <p:sp>
        <p:nvSpPr>
          <p:cNvPr id="13" name="Shape 10"/>
          <p:cNvSpPr/>
          <p:nvPr/>
        </p:nvSpPr>
        <p:spPr>
          <a:xfrm>
            <a:off x="9651802" y="2388989"/>
            <a:ext cx="4406503" cy="15240"/>
          </a:xfrm>
          <a:prstGeom prst="rect">
            <a:avLst/>
          </a:prstGeom>
          <a:solidFill>
            <a:srgbClr val="FFFFFF"/>
          </a:solidFill>
          <a:ln/>
        </p:spPr>
      </p:sp>
      <p:sp>
        <p:nvSpPr>
          <p:cNvPr id="14" name="Text 11"/>
          <p:cNvSpPr/>
          <p:nvPr/>
        </p:nvSpPr>
        <p:spPr>
          <a:xfrm>
            <a:off x="9651802" y="2486144"/>
            <a:ext cx="1669375" cy="208598"/>
          </a:xfrm>
          <a:prstGeom prst="rect">
            <a:avLst/>
          </a:prstGeom>
          <a:noFill/>
          <a:ln/>
        </p:spPr>
        <p:txBody>
          <a:bodyPr wrap="none" lIns="0" tIns="0" rIns="0" bIns="0" rtlCol="0" anchor="t"/>
          <a:lstStyle/>
          <a:p>
            <a:pPr algn="l" indent="0" marL="0">
              <a:lnSpc>
                <a:spcPts val="1600"/>
              </a:lnSpc>
              <a:buNone/>
            </a:pPr>
            <a:r>
              <a:rPr lang="en-US" sz="1300" dirty="0">
                <a:solidFill>
                  <a:srgbClr val="8F8F8F"/>
                </a:solidFill>
                <a:latin typeface="Mona Sans Semi Bold" pitchFamily="34" charset="0"/>
                <a:ea typeface="Mona Sans Semi Bold" pitchFamily="34" charset="-122"/>
                <a:cs typeface="Mona Sans Semi Bold" pitchFamily="34" charset="-120"/>
              </a:rPr>
              <a:t>Long-Term Impact</a:t>
            </a:r>
            <a:endParaRPr lang="en-US" sz="1300" dirty="0"/>
          </a:p>
        </p:txBody>
      </p:sp>
      <p:sp>
        <p:nvSpPr>
          <p:cNvPr id="15" name="Text 12"/>
          <p:cNvSpPr/>
          <p:nvPr/>
        </p:nvSpPr>
        <p:spPr>
          <a:xfrm>
            <a:off x="9651802" y="2774871"/>
            <a:ext cx="4406503" cy="427434"/>
          </a:xfrm>
          <a:prstGeom prst="rect">
            <a:avLst/>
          </a:prstGeom>
          <a:noFill/>
          <a:ln/>
        </p:spPr>
        <p:txBody>
          <a:bodyPr wrap="square" lIns="0" tIns="0" rIns="0" bIns="0" rtlCol="0" anchor="t"/>
          <a:lstStyle/>
          <a:p>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so pretty much french colonialism shaped vetnam's politics, economy, culture, and international relations as they are today. </a:t>
            </a:r>
            <a:endParaRPr lang="en-US" sz="1050" dirty="0"/>
          </a:p>
        </p:txBody>
      </p:sp>
      <p:sp>
        <p:nvSpPr>
          <p:cNvPr id="16" name="Text 13"/>
          <p:cNvSpPr/>
          <p:nvPr/>
        </p:nvSpPr>
        <p:spPr>
          <a:xfrm>
            <a:off x="572095" y="4013478"/>
            <a:ext cx="2281118" cy="250388"/>
          </a:xfrm>
          <a:prstGeom prst="rect">
            <a:avLst/>
          </a:prstGeom>
          <a:noFill/>
          <a:ln/>
        </p:spPr>
        <p:txBody>
          <a:bodyPr wrap="none" lIns="0" tIns="0" rIns="0" bIns="0" rtlCol="0" anchor="t"/>
          <a:lstStyle/>
          <a:p>
            <a:pPr algn="l" indent="0" marL="0">
              <a:lnSpc>
                <a:spcPts val="1950"/>
              </a:lnSpc>
              <a:buNone/>
            </a:pPr>
            <a:r>
              <a:rPr lang="en-US" sz="1550" dirty="0">
                <a:solidFill>
                  <a:srgbClr val="DDDDDD"/>
                </a:solidFill>
                <a:latin typeface="Mona Sans Semi Bold" pitchFamily="34" charset="0"/>
                <a:ea typeface="Mona Sans Semi Bold" pitchFamily="34" charset="-122"/>
                <a:cs typeface="Mona Sans Semi Bold" pitchFamily="34" charset="-120"/>
              </a:rPr>
              <a:t>French Colonial Control</a:t>
            </a:r>
            <a:endParaRPr lang="en-US" sz="1550" dirty="0"/>
          </a:p>
        </p:txBody>
      </p:sp>
      <p:sp>
        <p:nvSpPr>
          <p:cNvPr id="17" name="Text 14"/>
          <p:cNvSpPr/>
          <p:nvPr/>
        </p:nvSpPr>
        <p:spPr>
          <a:xfrm>
            <a:off x="572095" y="4397335"/>
            <a:ext cx="4232077" cy="213717"/>
          </a:xfrm>
          <a:prstGeom prst="rect">
            <a:avLst/>
          </a:prstGeom>
          <a:noFill/>
          <a:ln/>
        </p:spPr>
        <p:txBody>
          <a:bodyPr wrap="none" lIns="0" tIns="0" rIns="0" bIns="0" rtlCol="0" anchor="t"/>
          <a:lstStyle/>
          <a:p>
            <a:pPr algn="l" indent="0" marL="0">
              <a:lnSpc>
                <a:spcPts val="1650"/>
              </a:lnSpc>
              <a:buNone/>
            </a:pPr>
            <a:r>
              <a:rPr lang="en-US" sz="1050" b="1" dirty="0">
                <a:solidFill>
                  <a:srgbClr val="8F8F8F"/>
                </a:solidFill>
                <a:latin typeface="Funnel Sans" pitchFamily="34" charset="0"/>
                <a:ea typeface="Funnel Sans" pitchFamily="34" charset="-122"/>
                <a:cs typeface="Funnel Sans" pitchFamily="34" charset="-120"/>
              </a:rPr>
              <a:t>When:</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this was in 1858–1954</a:t>
            </a:r>
            <a:endParaRPr lang="en-US" sz="1050" dirty="0"/>
          </a:p>
        </p:txBody>
      </p:sp>
      <p:sp>
        <p:nvSpPr>
          <p:cNvPr id="18" name="Text 15"/>
          <p:cNvSpPr/>
          <p:nvPr/>
        </p:nvSpPr>
        <p:spPr>
          <a:xfrm>
            <a:off x="572095" y="4731187"/>
            <a:ext cx="4232077" cy="427434"/>
          </a:xfrm>
          <a:prstGeom prst="rect">
            <a:avLst/>
          </a:prstGeom>
          <a:noFill/>
          <a:ln/>
        </p:spPr>
        <p:txBody>
          <a:bodyPr wrap="square" lIns="0" tIns="0" rIns="0" bIns="0" rtlCol="0" anchor="t"/>
          <a:lstStyle/>
          <a:p>
            <a:pPr algn="l" indent="0" marL="0">
              <a:lnSpc>
                <a:spcPts val="1650"/>
              </a:lnSpc>
              <a:buNone/>
            </a:pPr>
            <a:r>
              <a:rPr lang="en-US" sz="1050" b="1" dirty="0">
                <a:solidFill>
                  <a:srgbClr val="8F8F8F"/>
                </a:solidFill>
                <a:latin typeface="Funnel Sans" pitchFamily="34" charset="0"/>
                <a:ea typeface="Funnel Sans" pitchFamily="34" charset="-122"/>
                <a:cs typeface="Funnel Sans" pitchFamily="34" charset="-120"/>
              </a:rPr>
              <a:t>Why would they do that?:</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to get raw materials (rice, rubber), markets, dominance over land</a:t>
            </a:r>
            <a:endParaRPr lang="en-US" sz="1050" dirty="0"/>
          </a:p>
        </p:txBody>
      </p:sp>
      <p:sp>
        <p:nvSpPr>
          <p:cNvPr id="19" name="Text 16"/>
          <p:cNvSpPr/>
          <p:nvPr/>
        </p:nvSpPr>
        <p:spPr>
          <a:xfrm>
            <a:off x="572095" y="5278755"/>
            <a:ext cx="4232077" cy="427434"/>
          </a:xfrm>
          <a:prstGeom prst="rect">
            <a:avLst/>
          </a:prstGeom>
          <a:noFill/>
          <a:ln/>
        </p:spPr>
        <p:txBody>
          <a:bodyPr wrap="square" lIns="0" tIns="0" rIns="0" bIns="0" rtlCol="0" anchor="t"/>
          <a:lstStyle/>
          <a:p>
            <a:pPr algn="l" indent="0" marL="0">
              <a:lnSpc>
                <a:spcPts val="1650"/>
              </a:lnSpc>
              <a:buNone/>
            </a:pPr>
            <a:r>
              <a:rPr lang="en-US" sz="1050" b="1" dirty="0">
                <a:solidFill>
                  <a:srgbClr val="8F8F8F"/>
                </a:solidFill>
                <a:latin typeface="Funnel Sans" pitchFamily="34" charset="0"/>
                <a:ea typeface="Funnel Sans" pitchFamily="34" charset="-122"/>
                <a:cs typeface="Funnel Sans" pitchFamily="34" charset="-120"/>
              </a:rPr>
              <a:t>How:</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military force, boats with guns, sieges, unequal treaties forced Vietnam to surrender eventually</a:t>
            </a:r>
            <a:endParaRPr lang="en-US" sz="1050" dirty="0"/>
          </a:p>
        </p:txBody>
      </p:sp>
      <p:sp>
        <p:nvSpPr>
          <p:cNvPr id="20" name="Text 17"/>
          <p:cNvSpPr/>
          <p:nvPr/>
        </p:nvSpPr>
        <p:spPr>
          <a:xfrm>
            <a:off x="572095" y="5826323"/>
            <a:ext cx="4232077" cy="427434"/>
          </a:xfrm>
          <a:prstGeom prst="rect">
            <a:avLst/>
          </a:prstGeom>
          <a:noFill/>
          <a:ln/>
        </p:spPr>
        <p:txBody>
          <a:bodyPr wrap="square" lIns="0" tIns="0" rIns="0" bIns="0" rtlCol="0" anchor="t"/>
          <a:lstStyle/>
          <a:p>
            <a:pPr algn="l" indent="0" marL="0">
              <a:lnSpc>
                <a:spcPts val="1650"/>
              </a:lnSpc>
              <a:buNone/>
            </a:pPr>
            <a:r>
              <a:rPr lang="en-US" sz="1050" b="1" dirty="0">
                <a:solidFill>
                  <a:srgbClr val="8F8F8F"/>
                </a:solidFill>
                <a:latin typeface="Funnel Sans" pitchFamily="34" charset="0"/>
                <a:ea typeface="Funnel Sans" pitchFamily="34" charset="-122"/>
                <a:cs typeface="Funnel Sans" pitchFamily="34" charset="-120"/>
              </a:rPr>
              <a:t>How they were treated after:</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after they surrenderd they got hit with heavy taxes, forced labor, land seizures, and cultural suppression.</a:t>
            </a:r>
            <a:endParaRPr lang="en-US" sz="1050" dirty="0"/>
          </a:p>
        </p:txBody>
      </p:sp>
      <p:sp>
        <p:nvSpPr>
          <p:cNvPr id="21" name="Text 18"/>
          <p:cNvSpPr/>
          <p:nvPr/>
        </p:nvSpPr>
        <p:spPr>
          <a:xfrm>
            <a:off x="5137547" y="4013478"/>
            <a:ext cx="2003227" cy="250388"/>
          </a:xfrm>
          <a:prstGeom prst="rect">
            <a:avLst/>
          </a:prstGeom>
          <a:noFill/>
          <a:ln/>
        </p:spPr>
        <p:txBody>
          <a:bodyPr wrap="none" lIns="0" tIns="0" rIns="0" bIns="0" rtlCol="0" anchor="t"/>
          <a:lstStyle/>
          <a:p>
            <a:pPr algn="l" indent="0" marL="0">
              <a:lnSpc>
                <a:spcPts val="1950"/>
              </a:lnSpc>
              <a:buNone/>
            </a:pPr>
            <a:r>
              <a:rPr lang="en-US" sz="1550" dirty="0">
                <a:solidFill>
                  <a:srgbClr val="DDDDDD"/>
                </a:solidFill>
                <a:latin typeface="Mona Sans Semi Bold" pitchFamily="34" charset="0"/>
                <a:ea typeface="Mona Sans Semi Bold" pitchFamily="34" charset="-122"/>
                <a:cs typeface="Mona Sans Semi Bold" pitchFamily="34" charset="-120"/>
              </a:rPr>
              <a:t>Timeline of things</a:t>
            </a:r>
            <a:endParaRPr lang="en-US" sz="1550" dirty="0"/>
          </a:p>
        </p:txBody>
      </p:sp>
      <p:sp>
        <p:nvSpPr>
          <p:cNvPr id="22" name="Text 19"/>
          <p:cNvSpPr/>
          <p:nvPr/>
        </p:nvSpPr>
        <p:spPr>
          <a:xfrm>
            <a:off x="5137547" y="4397335"/>
            <a:ext cx="4232077"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1858:</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French attack Da Nang (i am too lazy to eleaborate)</a:t>
            </a:r>
            <a:endParaRPr lang="en-US" sz="1050" dirty="0"/>
          </a:p>
        </p:txBody>
      </p:sp>
      <p:sp>
        <p:nvSpPr>
          <p:cNvPr id="23" name="Text 20"/>
          <p:cNvSpPr/>
          <p:nvPr/>
        </p:nvSpPr>
        <p:spPr>
          <a:xfrm>
            <a:off x="5137547" y="4657725"/>
            <a:ext cx="4232077"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1887:</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French Indochina formed</a:t>
            </a:r>
            <a:endParaRPr lang="en-US" sz="1050" dirty="0"/>
          </a:p>
        </p:txBody>
      </p:sp>
      <p:sp>
        <p:nvSpPr>
          <p:cNvPr id="24" name="Text 21"/>
          <p:cNvSpPr/>
          <p:nvPr/>
        </p:nvSpPr>
        <p:spPr>
          <a:xfrm>
            <a:off x="5137547" y="4918115"/>
            <a:ext cx="4232077"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1945:</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Ho Chi Minh declares independence</a:t>
            </a:r>
            <a:endParaRPr lang="en-US" sz="1050" dirty="0"/>
          </a:p>
        </p:txBody>
      </p:sp>
      <p:sp>
        <p:nvSpPr>
          <p:cNvPr id="25" name="Text 22"/>
          <p:cNvSpPr/>
          <p:nvPr/>
        </p:nvSpPr>
        <p:spPr>
          <a:xfrm>
            <a:off x="5137547" y="5178504"/>
            <a:ext cx="4232077"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1946–54:</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First Indochina War</a:t>
            </a:r>
            <a:endParaRPr lang="en-US" sz="1050" dirty="0"/>
          </a:p>
        </p:txBody>
      </p:sp>
      <p:sp>
        <p:nvSpPr>
          <p:cNvPr id="26" name="Text 23"/>
          <p:cNvSpPr/>
          <p:nvPr/>
        </p:nvSpPr>
        <p:spPr>
          <a:xfrm>
            <a:off x="5137547" y="5438894"/>
            <a:ext cx="4232077"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1954:</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Geneva Accords, French rule ends</a:t>
            </a:r>
            <a:endParaRPr lang="en-US" sz="1050" dirty="0"/>
          </a:p>
        </p:txBody>
      </p:sp>
      <p:sp>
        <p:nvSpPr>
          <p:cNvPr id="27" name="Text 24"/>
          <p:cNvSpPr/>
          <p:nvPr/>
        </p:nvSpPr>
        <p:spPr>
          <a:xfrm>
            <a:off x="9702998" y="4013478"/>
            <a:ext cx="2003227" cy="250388"/>
          </a:xfrm>
          <a:prstGeom prst="rect">
            <a:avLst/>
          </a:prstGeom>
          <a:noFill/>
          <a:ln/>
        </p:spPr>
        <p:txBody>
          <a:bodyPr wrap="none" lIns="0" tIns="0" rIns="0" bIns="0" rtlCol="0" anchor="t"/>
          <a:lstStyle/>
          <a:p>
            <a:pPr algn="l" indent="0" marL="0">
              <a:lnSpc>
                <a:spcPts val="1950"/>
              </a:lnSpc>
              <a:buNone/>
            </a:pPr>
            <a:r>
              <a:rPr lang="en-US" sz="1550" dirty="0">
                <a:solidFill>
                  <a:srgbClr val="DDDDDD"/>
                </a:solidFill>
                <a:latin typeface="Mona Sans Semi Bold" pitchFamily="34" charset="0"/>
                <a:ea typeface="Mona Sans Semi Bold" pitchFamily="34" charset="-122"/>
                <a:cs typeface="Mona Sans Semi Bold" pitchFamily="34" charset="-120"/>
              </a:rPr>
              <a:t>The effects of it now</a:t>
            </a:r>
            <a:endParaRPr lang="en-US" sz="1550" dirty="0"/>
          </a:p>
        </p:txBody>
      </p:sp>
      <p:sp>
        <p:nvSpPr>
          <p:cNvPr id="28" name="Text 25"/>
          <p:cNvSpPr/>
          <p:nvPr/>
        </p:nvSpPr>
        <p:spPr>
          <a:xfrm>
            <a:off x="9702998" y="4397335"/>
            <a:ext cx="4370308"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Political:</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Centralized institutions, communist government</a:t>
            </a:r>
            <a:endParaRPr lang="en-US" sz="1050" dirty="0"/>
          </a:p>
        </p:txBody>
      </p:sp>
      <p:sp>
        <p:nvSpPr>
          <p:cNvPr id="29" name="Text 26"/>
          <p:cNvSpPr/>
          <p:nvPr/>
        </p:nvSpPr>
        <p:spPr>
          <a:xfrm>
            <a:off x="9702998" y="4657725"/>
            <a:ext cx="4370308"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Economic:</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Export-focused agriculture, infrastructure gaps</a:t>
            </a:r>
            <a:endParaRPr lang="en-US" sz="1050" dirty="0"/>
          </a:p>
        </p:txBody>
      </p:sp>
      <p:sp>
        <p:nvSpPr>
          <p:cNvPr id="30" name="Text 27"/>
          <p:cNvSpPr/>
          <p:nvPr/>
        </p:nvSpPr>
        <p:spPr>
          <a:xfrm>
            <a:off x="9702998" y="4918115"/>
            <a:ext cx="4370308"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Social:</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Western ideas sparked nationalism</a:t>
            </a:r>
            <a:endParaRPr lang="en-US" sz="1050" dirty="0"/>
          </a:p>
        </p:txBody>
      </p:sp>
      <p:sp>
        <p:nvSpPr>
          <p:cNvPr id="31" name="Text 28"/>
          <p:cNvSpPr/>
          <p:nvPr/>
        </p:nvSpPr>
        <p:spPr>
          <a:xfrm>
            <a:off x="9702998" y="5178504"/>
            <a:ext cx="4370308"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Cultural:</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French language, architecture, legal terms persist</a:t>
            </a:r>
            <a:endParaRPr lang="en-US" sz="1050" dirty="0"/>
          </a:p>
        </p:txBody>
      </p:sp>
      <p:sp>
        <p:nvSpPr>
          <p:cNvPr id="32" name="Text 29"/>
          <p:cNvSpPr/>
          <p:nvPr/>
        </p:nvSpPr>
        <p:spPr>
          <a:xfrm>
            <a:off x="9702998" y="5438894"/>
            <a:ext cx="4370308" cy="213717"/>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8F8F8F"/>
                </a:solidFill>
                <a:latin typeface="Funnel Sans" pitchFamily="34" charset="0"/>
                <a:ea typeface="Funnel Sans" pitchFamily="34" charset="-122"/>
                <a:cs typeface="Funnel Sans" pitchFamily="34" charset="-120"/>
              </a:rPr>
              <a:t>International:</a:t>
            </a:r>
            <a:pPr algn="l" indent="0" marL="0">
              <a:lnSpc>
                <a:spcPts val="1650"/>
              </a:lnSpc>
              <a:buNone/>
            </a:pPr>
            <a:r>
              <a:rPr lang="en-US" sz="1050" dirty="0">
                <a:solidFill>
                  <a:srgbClr val="8F8F8F"/>
                </a:solidFill>
                <a:latin typeface="Funnel Sans" pitchFamily="34" charset="0"/>
                <a:ea typeface="Funnel Sans" pitchFamily="34" charset="-122"/>
                <a:cs typeface="Funnel Sans" pitchFamily="34" charset="-120"/>
              </a:rPr>
              <a:t> Complex France-Vietnam relations continue</a:t>
            </a:r>
            <a:endParaRPr lang="en-US" sz="1050" dirty="0"/>
          </a:p>
        </p:txBody>
      </p:sp>
      <p:sp>
        <p:nvSpPr>
          <p:cNvPr id="33" name="Shape 30"/>
          <p:cNvSpPr/>
          <p:nvPr/>
        </p:nvSpPr>
        <p:spPr>
          <a:xfrm>
            <a:off x="572095" y="6524030"/>
            <a:ext cx="13486209" cy="1123117"/>
          </a:xfrm>
          <a:prstGeom prst="roundRect">
            <a:avLst>
              <a:gd name="adj" fmla="val 4994"/>
            </a:avLst>
          </a:prstGeom>
          <a:solidFill>
            <a:srgbClr val="262626"/>
          </a:solidFill>
          <a:ln/>
        </p:spPr>
      </p:sp>
      <p:pic>
        <p:nvPicPr>
          <p:cNvPr id="34" name="Image 1" descr="preencoded.png">    </p:cNvPr>
          <p:cNvPicPr>
            <a:picLocks noChangeAspect="1"/>
          </p:cNvPicPr>
          <p:nvPr/>
        </p:nvPicPr>
        <p:blipFill>
          <a:blip r:embed="rId2"/>
          <a:stretch>
            <a:fillRect/>
          </a:stretch>
        </p:blipFill>
        <p:spPr>
          <a:xfrm>
            <a:off x="705564" y="6712387"/>
            <a:ext cx="208598" cy="166926"/>
          </a:xfrm>
          <a:prstGeom prst="rect">
            <a:avLst/>
          </a:prstGeom>
        </p:spPr>
      </p:pic>
      <p:sp>
        <p:nvSpPr>
          <p:cNvPr id="35" name="Text 31"/>
          <p:cNvSpPr/>
          <p:nvPr/>
        </p:nvSpPr>
        <p:spPr>
          <a:xfrm>
            <a:off x="1047631" y="6690836"/>
            <a:ext cx="1694974" cy="208598"/>
          </a:xfrm>
          <a:prstGeom prst="rect">
            <a:avLst/>
          </a:prstGeom>
          <a:noFill/>
          <a:ln/>
        </p:spPr>
        <p:txBody>
          <a:bodyPr wrap="none" lIns="0" tIns="0" rIns="0" bIns="0" rtlCol="0" anchor="t"/>
          <a:lstStyle/>
          <a:p>
            <a:pPr algn="l" indent="0" marL="0">
              <a:lnSpc>
                <a:spcPts val="1600"/>
              </a:lnSpc>
              <a:buNone/>
            </a:pPr>
            <a:r>
              <a:rPr lang="en-US" sz="1300" dirty="0">
                <a:solidFill>
                  <a:srgbClr val="FFFFFF"/>
                </a:solidFill>
                <a:latin typeface="Mona Sans Semi Bold" pitchFamily="34" charset="0"/>
                <a:ea typeface="Mona Sans Semi Bold" pitchFamily="34" charset="-122"/>
                <a:cs typeface="Mona Sans Semi Bold" pitchFamily="34" charset="-120"/>
              </a:rPr>
              <a:t>Vietnam in the big 25</a:t>
            </a:r>
            <a:endParaRPr lang="en-US" sz="1300" dirty="0"/>
          </a:p>
        </p:txBody>
      </p:sp>
      <p:sp>
        <p:nvSpPr>
          <p:cNvPr id="36" name="Text 32"/>
          <p:cNvSpPr/>
          <p:nvPr/>
        </p:nvSpPr>
        <p:spPr>
          <a:xfrm>
            <a:off x="1047631" y="7032903"/>
            <a:ext cx="12877205" cy="427434"/>
          </a:xfrm>
          <a:prstGeom prst="rect">
            <a:avLst/>
          </a:prstGeom>
          <a:noFill/>
          <a:ln/>
        </p:spPr>
        <p:txBody>
          <a:bodyPr wrap="square" lIns="0" tIns="0" rIns="0" bIns="0" rtlCol="0" anchor="t"/>
          <a:lstStyle/>
          <a:p>
            <a:pPr algn="l" indent="0" marL="0">
              <a:lnSpc>
                <a:spcPts val="1650"/>
              </a:lnSpc>
              <a:buNone/>
            </a:pPr>
            <a:r>
              <a:rPr lang="en-US" sz="1050" dirty="0">
                <a:solidFill>
                  <a:srgbClr val="FFFFFF"/>
                </a:solidFill>
                <a:latin typeface="Funnel Sans" pitchFamily="34" charset="0"/>
                <a:ea typeface="Funnel Sans" pitchFamily="34" charset="-122"/>
                <a:cs typeface="Funnel Sans" pitchFamily="34" charset="-120"/>
              </a:rPr>
              <a:t>Vietnam is a now one-party socialist  republic with a fast growing economy made by manufacturing and trade. it plays an "active role" in Southeast Asian politics while dealing w/ inequality, environmental challenges, and political freedoms.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2025-12-12T18:34:19Z</dcterms:created>
  <dcterms:modified xsi:type="dcterms:W3CDTF">2025-12-12T18:34:19Z</dcterms:modified>
</cp:coreProperties>
</file>